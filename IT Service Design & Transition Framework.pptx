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96a9ec6b-2273-4f2b-8ee6-1f42165c6b11.fntdata" /><ns0:Relationship Id="rIdFont19" Type="http://schemas.openxmlformats.org/officeDocument/2006/relationships/font" Target="fonts/a39955a4-22e5-4379-aea3-a7cd45be515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2246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7434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IT OPERATIONS &amp; SERVICE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40334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IT Service Design &amp; Transition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08065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Comprehensive Overview of Service Acceptance, Deliverables, Operational Governance, and Acceptance Criteria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0375"/>
            <a:ext cx="2600325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00375"/>
            <a:ext cx="2600325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00375"/>
            <a:ext cx="2600325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00375"/>
            <a:ext cx="2600325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76600"/>
            <a:ext cx="2000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3276600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475" y="3276600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3276600"/>
            <a:ext cx="3333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Service Delivery Activity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9570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1. SAC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971925"/>
            <a:ext cx="21431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Service Acceptance Criteria definition and ID creation complete.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650" y="369570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2. Delivery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971925"/>
            <a:ext cx="21431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Service Design, Transition, and Early Life Support (ELS) execution.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369570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3. 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3971925"/>
            <a:ext cx="21431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Knowledge Management documentation creation and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369570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4. Governance &amp; CIs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3971925"/>
            <a:ext cx="21431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Operational Acceptance, CI mapping, and CCR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81275"/>
            <a:ext cx="3505200" cy="2647950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38450"/>
            <a:ext cx="35052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09862"/>
            <a:ext cx="35052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" y="2867025"/>
            <a:ext cx="695325" cy="257175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29150" y="3124200"/>
            <a:ext cx="723900" cy="257175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2950" y="2995612"/>
            <a:ext cx="723900" cy="257175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714750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971925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4229100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4486275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4743450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3971925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4229100"/>
            <a:ext cx="1238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4486275"/>
            <a:ext cx="1238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3843337"/>
            <a:ext cx="1238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4100512"/>
            <a:ext cx="1238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4357687"/>
            <a:ext cx="1238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4614862"/>
            <a:ext cx="12382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KEY 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Service Delivery Workstream Packs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650" y="2924175"/>
            <a:ext cx="5619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PACK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3276600"/>
            <a:ext cx="38504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Service Design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3450" y="3181350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PACK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9150" y="3533775"/>
            <a:ext cx="38504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Service Transition 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0" y="3052762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91C1C"/>
                </a:solidFill>
                <a:latin typeface="Inter"/>
              </a:rPr>
              <a:t>PACK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2950" y="3405187"/>
            <a:ext cx="38290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Service Introduction Pack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" y="3657600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Service: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Functional Requirements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350" y="3914775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Capacity: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Volume &amp; Sizing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350" y="4171950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BIA: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Business Impact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350" y="4429125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Support: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Operating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350" y="4686300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RACI: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Matrix Alignment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9150" y="3914775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KT Plan: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Knowledge Transfer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9150" y="4171950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Testing: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Verification Info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9150" y="4429125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Readiness: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Go-Live Checklist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2950" y="3786187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ELS Plan: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Early Life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2950" y="4043362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ELS Entry: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Entry Criteria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2950" y="4300537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ELS Call: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Overview Sync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2950" y="4557712"/>
            <a:ext cx="366712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ELS Exit: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Handover Criteria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485900"/>
          <a:ext cx="10972799" cy="24003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13259"/>
                <a:gridCol w="2328267"/>
                <a:gridCol w="7331273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Reference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Requirement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Description &amp; Scope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NFR-01-1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Service Hours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Detail the hours and days that the business will utilize this service.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NFR-01-2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Support Window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Hours and days service is used &amp; support needs (e.g., 30 mins before shift start).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NFR-01-3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Critical Windows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Critical support windows (e.g., Plant Start-up, financial year-end reporting).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NFR-02-1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Service Regions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Geographic service coverage (e.g., UK, North America, Global).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Non-Functional Requirements (NFR)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24075"/>
            <a:ext cx="3530500" cy="990600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600" y="2124075"/>
            <a:ext cx="3530649" cy="990600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2124075"/>
            <a:ext cx="3530500" cy="990600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657725"/>
            <a:ext cx="3530500" cy="990600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600" y="4657725"/>
            <a:ext cx="3530649" cy="990600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750" y="4657725"/>
            <a:ext cx="3530500" cy="990600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INFRASTRUCTURE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Capacity Requirements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324100"/>
            <a:ext cx="410871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Messaging &amp;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590800"/>
            <a:ext cx="3225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Transaction volume growth and utilization spike projections.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625" y="2324100"/>
            <a:ext cx="410891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Storage &amp; Archival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625" y="2590800"/>
            <a:ext cx="32258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Storage growth (GB), data retention, and compliance deletion.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1775" y="2324100"/>
            <a:ext cx="394022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Compute &amp; Licensing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1775" y="2590800"/>
            <a:ext cx="3225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Compute nodes, network load, and software license tracking.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857750"/>
            <a:ext cx="410871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Deployment Plans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5124450"/>
            <a:ext cx="3225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Multi-phase deployment timeline capacity variations.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0625" y="4857750"/>
            <a:ext cx="410891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Future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0625" y="5124450"/>
            <a:ext cx="32258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Budgeted vs. aspirational growth requirements over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1775" y="4857750"/>
            <a:ext cx="394022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3rd Party Duties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1775" y="5124450"/>
            <a:ext cx="3225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Responsibility demarcation for vendor capacity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038475"/>
            <a:ext cx="5334000" cy="17335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3038475"/>
            <a:ext cx="5334000" cy="17335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038475"/>
            <a:ext cx="38100" cy="1733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3038475"/>
            <a:ext cx="38100" cy="17335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OPERATIONAL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Operational Acceptance (OA) &amp; CIs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05175"/>
            <a:ext cx="6250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Operational Acceptance (OA)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305175"/>
            <a:ext cx="563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Configuration Items &amp;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48075"/>
            <a:ext cx="5953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5.1 OA Registration: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Formal registration in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3825"/>
            <a:ext cx="5953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5.2 OA Assignment: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Stakeholder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19575"/>
            <a:ext cx="5953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5.3 OA Tailoring Call: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Customizing operational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648075"/>
            <a:ext cx="56388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6.1 Interface CI: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Creation &amp; component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933825"/>
            <a:ext cx="56388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6.2 Application CI: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Creation &amp; system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219575"/>
            <a:ext cx="56388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6.3/6.4 Approval Mapping: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CR mapping for App &amp;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9742"/>
            <a:ext cx="5372100" cy="2334815"/>
          </a:xfrm>
          <a:prstGeom prst="roundRect">
            <a:avLst>
              <a:gd name="adj" fmla="val 48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39653"/>
            <a:ext cx="5372100" cy="1854993"/>
          </a:xfrm>
          <a:prstGeom prst="roundRect">
            <a:avLst>
              <a:gd name="adj" fmla="val 61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2937867"/>
            <a:ext cx="1266825" cy="266700"/>
          </a:xfrm>
          <a:prstGeom prst="roundRect">
            <a:avLst>
              <a:gd name="adj" fmla="val 2142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48425" y="3177778"/>
            <a:ext cx="1990725" cy="266700"/>
          </a:xfrm>
          <a:prstGeom prst="roundRect">
            <a:avLst>
              <a:gd name="adj" fmla="val 2142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AGILE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Service Acceptance Gates (Discovery &amp; Deployment)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995017"/>
            <a:ext cx="1133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Inter"/>
              </a:rPr>
              <a:t>DISCOVERY (G2)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234928"/>
            <a:ext cx="1857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Inter"/>
              </a:rPr>
              <a:t>DEPLOYMENT (G4 - Sprint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356967"/>
            <a:ext cx="611981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1. Charter: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Project Charter Initiated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596878"/>
            <a:ext cx="611981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2. Resources: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Estimates Initiated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36789"/>
            <a:ext cx="611981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3. Structure: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SIP Project Structure Agreed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76700"/>
            <a:ext cx="611981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4. Requirements: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Service Requirements Agreed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316610"/>
            <a:ext cx="611981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5. Capacity: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Capacity Requirements Shared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556521"/>
            <a:ext cx="611981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6. Assessment: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Service Assessment 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596878"/>
            <a:ext cx="57435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1. Service Design: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Design Pack Initiated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836789"/>
            <a:ext cx="57435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2. Transition: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Transition Plan Agreed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4076700"/>
            <a:ext cx="57435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3. Comms Plan: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Communications Plan Agreed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316610"/>
            <a:ext cx="57435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4. Operational Acceptance: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OA Registered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76512"/>
            <a:ext cx="5334000" cy="2619375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24137"/>
            <a:ext cx="5334000" cy="2524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3786187"/>
            <a:ext cx="4781550" cy="314325"/>
          </a:xfrm>
          <a:prstGeom prst="roundRect">
            <a:avLst>
              <a:gd name="adj" fmla="val 1818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4195762"/>
            <a:ext cx="4781550" cy="314325"/>
          </a:xfrm>
          <a:prstGeom prst="roundRect">
            <a:avLst>
              <a:gd name="adj" fmla="val 18181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4605337"/>
            <a:ext cx="4781550" cy="314325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24625" y="3671887"/>
            <a:ext cx="47815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24625" y="4348162"/>
            <a:ext cx="47815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82225" y="3824287"/>
            <a:ext cx="97155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182225" y="4500562"/>
            <a:ext cx="97155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RESOLUTION &amp; CCR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Service Gap Management &amp; CCR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852737"/>
            <a:ext cx="62757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Service Gap Guidance (Exit Gate)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233737"/>
            <a:ext cx="4876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Document service gaps at the exit of Discovery phase for operational closure: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900362"/>
            <a:ext cx="5667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CCR Vendor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281362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Cross-partner operational change request and compliance mapping: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862387"/>
            <a:ext cx="4648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Inter"/>
              </a:rPr>
              <a:t>Red: Open with no resolution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4271962"/>
            <a:ext cx="4648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2400E"/>
                </a:solidFill>
                <a:latin typeface="Inter"/>
              </a:rPr>
              <a:t>Amber: Open with resolution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4681537"/>
            <a:ext cx="4648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Inter"/>
              </a:rPr>
              <a:t>Green: Closed / Resolved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3838575"/>
            <a:ext cx="1643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Item 7.1: TCS CCR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7475" y="3862387"/>
            <a:ext cx="876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Active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4514850"/>
            <a:ext cx="1678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Item 7.2: TTL CCR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7475" y="4538662"/>
            <a:ext cx="876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Active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285255"/>
            <a:ext cx="609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CONTINUOUS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61480"/>
            <a:ext cx="5220652" cy="822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FFFFF"/>
                </a:solidFill>
                <a:latin typeface="Inter"/>
              </a:rPr>
              <a:t>Transition Excellence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74702"/>
            <a:ext cx="49720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Ensuring smooth service handovers from build to operational run through rigorous acceptance criteria and standardized delivery packs.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014787"/>
            <a:ext cx="4572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52069" y="2814637"/>
            <a:ext cx="2887860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8328" y="3481387"/>
            <a:ext cx="4655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IT Service Design &amp; Transition Alignment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3937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9906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https://www.itil.com/-/media/itilsite/site-assets/images/slider-strip-images/welcome-to-itil/itil-product-experience-service.webp?h=352&amp;w=625&amp;hash=386ACCFBB80E95B4F0913A03F39E4E54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43025"/>
            <a:ext cx="1916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www.itil.com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